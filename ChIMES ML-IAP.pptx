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1" autoAdjust="0"/>
    <p:restoredTop sz="94660"/>
  </p:normalViewPr>
  <p:slideViewPr>
    <p:cSldViewPr snapToGrid="0">
      <p:cViewPr varScale="1">
        <p:scale>
          <a:sx n="81" d="100"/>
          <a:sy n="81" d="100"/>
        </p:scale>
        <p:origin x="92" y="5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0ECF0-9070-7575-6F07-EABDC2193B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BD0F0D-7786-F395-E69D-A1CF00F8DC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0C0040-A0D7-BE1C-AA2A-B3317076B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37A1F-8635-40C2-A9A7-4DEF5C41DEAD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4A30DC-7A2B-9FB4-21E4-45BCDA8C0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DF1059-3814-853E-3CA7-6EC201373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90D65-9D15-405F-966A-330275602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013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9E78B-1A6D-226F-D404-5654999E8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0B271-CB97-2090-3A83-1DEF75495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B31A04-A5DF-34CE-121F-D91D7044A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37A1F-8635-40C2-A9A7-4DEF5C41DEAD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E184C3-4880-E9B5-9C24-C12646C1D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5B0925-936E-3E72-9676-57E636B3D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90D65-9D15-405F-966A-330275602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511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01917-3F61-15B3-B4D9-A30D46CB8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FC387A-2E15-3B6A-4222-8BA76D5F05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00152-0B81-BADC-852A-2D86B4A77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37A1F-8635-40C2-A9A7-4DEF5C41DEAD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86754-6762-B4DD-A40F-8EA794F7C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8B8710-644F-3C83-A2EC-FD5E2AC14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90D65-9D15-405F-966A-330275602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55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A3B7B-ACF3-24FF-499B-E3ABAA3ED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9A7BE-BC6C-4CEC-3A8E-A8216407EE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8C8181-3B81-0C3E-25CB-8366ED1DDD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806279-81C0-9A3D-11F9-531910B51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37A1F-8635-40C2-A9A7-4DEF5C41DEAD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257413-F400-1C5E-C948-2CE5091CE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FB61D6-282C-7EEC-1B1C-83C5A4ACE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90D65-9D15-405F-966A-330275602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910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7C361-A627-07C0-1F6F-615CC7A2C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4F49E-84B5-192F-30B8-5E7BA7DC35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774388-A10C-43C6-3657-291C9AC513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2F148C-50D4-175C-F6E4-8C18512364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2182A1-F7EA-F653-CA9C-782F0798B8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0B6632-DFC2-8390-B3A2-50F1F4597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37A1F-8635-40C2-A9A7-4DEF5C41DEAD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BC82C7-EFBB-44A6-DF36-5D7A78499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0EDE87-76BD-3DAE-0290-12B42F6B4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90D65-9D15-405F-966A-330275602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973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3F560-C65F-5F3D-A9BA-236A191EF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6BFBF5-7C16-142E-4FC4-93161CFD9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37A1F-8635-40C2-A9A7-4DEF5C41DEAD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F61A73-3901-3369-8EDF-7FB3849FA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0FF286-C578-F559-9656-65A0D8432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90D65-9D15-405F-966A-330275602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48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4E80B9-C29A-8B9B-5769-70D2E6136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37A1F-8635-40C2-A9A7-4DEF5C41DEAD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0E7DAC-A9CD-5E49-E1F9-BEAD19FDC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2C5865-C99C-6834-4A59-48FD5548E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90D65-9D15-405F-966A-330275602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661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9515E-FE2C-9151-E443-1C39B2E49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379D-2DA2-2CCB-05CE-6A6FC6FB83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FE403A-3CE8-B066-F509-A1BB9B5B0F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98D2F8-2508-75B7-855E-74AE30DF5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37A1F-8635-40C2-A9A7-4DEF5C41DEAD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0B325C-D90D-6928-743B-862E1DCEA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C7A68E-8FCC-3F57-69B8-31CD1D2B1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90D65-9D15-405F-966A-330275602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839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7D036-37CA-228A-B23E-09D90410A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64D0C8-7678-5157-1DF2-C2A3B4C855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1B1D33-4CAE-8263-DE82-FE111142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1C4D6B-A7C8-E51B-A357-3F6CD307C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37A1F-8635-40C2-A9A7-4DEF5C41DEAD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1A8D28-5079-9C4D-C490-8A0AC4764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372258-159F-C3AB-3566-6ABA9314D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90D65-9D15-405F-966A-330275602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639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9A786-8FE6-DA7F-8386-AB8510DA1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EB1462-7C34-A2A2-9F3C-9CAB1577E2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3D5C8-E6FC-FFE0-02AE-CE0550538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37A1F-8635-40C2-A9A7-4DEF5C41DEAD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5FD934-4E29-81B1-583D-2686E53E1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0F359-EF5A-0277-C792-C53C86520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90D65-9D15-405F-966A-330275602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1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E4D938-15DC-2092-8F70-735A0D41D7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6B9DF5-31EC-B1CB-DADF-75FADFB5BF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E0DAE-371F-B547-B223-1DA1F922C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37A1F-8635-40C2-A9A7-4DEF5C41DEAD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79050-26C5-14BE-AD8D-CC10695E3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457A39-B079-BDAD-1E3D-1D978B246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90D65-9D15-405F-966A-330275602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580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614D29-1A95-85BA-DC54-3E9482531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2626A3-7291-852A-5572-C24EFF4EB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7B30F-D6D5-837D-C29E-C95BDD4A12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037A1F-8635-40C2-A9A7-4DEF5C41DEAD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4C17E4-D50F-CE92-A7EC-01E23905F4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717E4C-4873-8106-B4DA-00624CD32E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E90D65-9D15-405F-966A-330275602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465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78FC5-4AC0-C9FE-62EF-752AFC9512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072021"/>
          </a:xfrm>
        </p:spPr>
        <p:txBody>
          <a:bodyPr/>
          <a:lstStyle/>
          <a:p>
            <a:r>
              <a:rPr lang="en-US" dirty="0" err="1"/>
              <a:t>ChIMES</a:t>
            </a:r>
            <a:r>
              <a:rPr lang="en-US" dirty="0"/>
              <a:t> ML-IAP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788D05-CB6B-EDEA-28D8-45A22083B3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Key Equations</a:t>
            </a:r>
          </a:p>
        </p:txBody>
      </p:sp>
    </p:spTree>
    <p:extLst>
      <p:ext uri="{BB962C8B-B14F-4D97-AF65-F5344CB8AC3E}">
        <p14:creationId xmlns:p14="http://schemas.microsoft.com/office/powerpoint/2010/main" val="2354943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9C3C864-C625-4883-B868-9A4C470F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291" y="3296652"/>
            <a:ext cx="12202113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2EA3B9-234B-1325-C1A7-EBAA9FB5C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5833"/>
            <a:ext cx="4215063" cy="2398713"/>
          </a:xfrm>
        </p:spPr>
        <p:txBody>
          <a:bodyPr>
            <a:normAutofit/>
          </a:bodyPr>
          <a:lstStyle/>
          <a:p>
            <a:r>
              <a:rPr lang="en-US" dirty="0"/>
              <a:t>Cluster Expansion</a:t>
            </a:r>
          </a:p>
        </p:txBody>
      </p:sp>
      <p:pic>
        <p:nvPicPr>
          <p:cNvPr id="5" name="Picture 4" descr="The text appears to be a fragmented representation of mathematical equations or symbols, with no clear image to describe.&#10;&#10;AI-generated content may be incorrect.">
            <a:extLst>
              <a:ext uri="{FF2B5EF4-FFF2-40B4-BE49-F238E27FC236}">
                <a16:creationId xmlns:a16="http://schemas.microsoft.com/office/drawing/2014/main" id="{803D8D1F-FDA6-F925-77EE-EB9852C6E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626" y="574835"/>
            <a:ext cx="9080748" cy="17026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EA8AE5-8686-9335-ECD6-2BA96125AC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15947" y="3689132"/>
                <a:ext cx="7337854" cy="2594034"/>
              </a:xfrm>
            </p:spPr>
            <p:txBody>
              <a:bodyPr anchor="ctr">
                <a:normAutofit fontScale="92500" lnSpcReduction="20000"/>
              </a:bodyPr>
              <a:lstStyle/>
              <a:p>
                <a:r>
                  <a:rPr lang="en-US" sz="2000" dirty="0"/>
                  <a:t>The potential energy of an n-body (</a:t>
                </a:r>
                <a:r>
                  <a:rPr lang="en-US" sz="2000" dirty="0" err="1"/>
                  <a:t>n</a:t>
                </a:r>
                <a:r>
                  <a:rPr lang="en-US" sz="2000" baseline="-25000" dirty="0" err="1"/>
                  <a:t>B</a:t>
                </a:r>
                <a:r>
                  <a:rPr lang="en-US" sz="2000" dirty="0"/>
                  <a:t>)</a:t>
                </a:r>
                <a:r>
                  <a:rPr lang="en-US" sz="2000" baseline="-25000" dirty="0"/>
                  <a:t> </a:t>
                </a:r>
                <a:r>
                  <a:rPr lang="en-US" sz="2000" dirty="0"/>
                  <a:t>system is determined using a many-body cluster expansion</a:t>
                </a:r>
              </a:p>
              <a:p>
                <a:r>
                  <a:rPr lang="en-US" sz="2000" dirty="0"/>
                  <a:t>Each summation represents the potential energy associated with all of the subclusters of bodies, that is, the 1-body potentials, 2-body potentials, et cetera</a:t>
                </a:r>
              </a:p>
              <a:p>
                <a:r>
                  <a:rPr lang="en-US" sz="2000" dirty="0"/>
                  <a:t>The potential energy can be used to get the force on each particle since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∇U</m:t>
                    </m:r>
                  </m:oMath>
                </a14:m>
                <a:endParaRPr lang="en-US" sz="2000" dirty="0"/>
              </a:p>
              <a:p>
                <a:r>
                  <a:rPr lang="en-US" sz="2000" dirty="0"/>
                  <a:t>Notably this expression is translationally and rotationally symmetric, since only the distance between atoms is used, and not their exact coordinates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EA8AE5-8686-9335-ECD6-2BA96125AC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15947" y="3689132"/>
                <a:ext cx="7337854" cy="2594034"/>
              </a:xfrm>
              <a:blipFill>
                <a:blip r:embed="rId3"/>
                <a:stretch>
                  <a:fillRect l="-664" t="-2347" r="-1246" b="-25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7117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9C3C864-C625-4883-B868-9A4C470F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291" y="3296652"/>
            <a:ext cx="12202113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81F9C5-FAF3-2837-9794-795A00D17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669" y="3905833"/>
            <a:ext cx="3925614" cy="2398713"/>
          </a:xfrm>
        </p:spPr>
        <p:txBody>
          <a:bodyPr>
            <a:normAutofit/>
          </a:bodyPr>
          <a:lstStyle/>
          <a:p>
            <a:r>
              <a:rPr lang="en-US" dirty="0"/>
              <a:t>2-Body Interaction</a:t>
            </a:r>
            <a:br>
              <a:rPr lang="en-US" dirty="0"/>
            </a:br>
            <a:r>
              <a:rPr lang="en-US" dirty="0"/>
              <a:t>Potentials</a:t>
            </a:r>
          </a:p>
        </p:txBody>
      </p:sp>
      <p:pic>
        <p:nvPicPr>
          <p:cNvPr id="5" name="Picture 4" descr="a&#10;&#10;AI-generated content may be incorrect.">
            <a:extLst>
              <a:ext uri="{FF2B5EF4-FFF2-40B4-BE49-F238E27FC236}">
                <a16:creationId xmlns:a16="http://schemas.microsoft.com/office/drawing/2014/main" id="{7312B9BF-7586-46C8-A198-CB8A7EAC6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955" y="973384"/>
            <a:ext cx="9875259" cy="162941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614257-88E5-E9A5-3DE0-672C4EF7DF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201512" y="3744310"/>
                <a:ext cx="7488620" cy="2999923"/>
              </a:xfrm>
            </p:spPr>
            <p:txBody>
              <a:bodyPr anchor="ctr">
                <a:normAutofit lnSpcReduction="10000"/>
              </a:bodyPr>
              <a:lstStyle/>
              <a:p>
                <a:r>
                  <a:rPr lang="en-US" sz="2000" dirty="0"/>
                  <a:t>1-body potentials are taken as constants </a:t>
                </a:r>
              </a:p>
              <a:p>
                <a:r>
                  <a:rPr lang="en-US" sz="2000" dirty="0"/>
                  <a:t>2-body potentials are determined using this formula, using a penalty function in combination with a smoothing function</a:t>
                </a:r>
              </a:p>
              <a:p>
                <a:r>
                  <a:rPr lang="en-US" sz="2000" dirty="0"/>
                  <a:t>Each parameter is specific to the two atoms in question,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en-US" sz="2000" dirty="0"/>
                  <a:t> is the Chebyshev polynomial of order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1" smtClean="0"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en-US" sz="2000" b="0" dirty="0"/>
                  <a:t>. The maximum order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2000" b="0" dirty="0"/>
                  <a:t> is a hyperparameter. </a:t>
                </a:r>
                <a:r>
                  <a:rPr lang="en-US" sz="2000" dirty="0"/>
                  <a:t>The radius needs to be mapped to [-1, 1] as that is the valid domain of the Chebyshev polynomials.</a:t>
                </a:r>
                <a:endParaRPr lang="en-US" sz="2000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en-US" sz="2000" b="0" dirty="0"/>
                  <a:t> is the model coefficient being fit.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614257-88E5-E9A5-3DE0-672C4EF7DF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01512" y="3744310"/>
                <a:ext cx="7488620" cy="2999923"/>
              </a:xfrm>
              <a:blipFill>
                <a:blip r:embed="rId3"/>
                <a:stretch>
                  <a:fillRect l="-732" b="-10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8008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CA60C0-7EA0-B9A4-EDC2-D1986DA3D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Chebyshev polynomials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6BC359-ADC5-9AD1-80C8-348FB55EEE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57987" y="2431765"/>
                <a:ext cx="8276026" cy="3320031"/>
              </a:xfrm>
            </p:spPr>
            <p:txBody>
              <a:bodyPr anchor="ctr">
                <a:normAutofit fontScale="92500" lnSpcReduction="10000"/>
              </a:bodyPr>
              <a:lstStyle/>
              <a:p>
                <a:r>
                  <a:rPr lang="en-US" sz="2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There are two types of Chebyshev polynomials, </a:t>
                </a:r>
                <a:r>
                  <a:rPr lang="en-US" sz="2000" i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2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and </a:t>
                </a:r>
                <a:r>
                  <a:rPr lang="en-US" sz="2000" i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sz="2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, which can be recursively defined:</a:t>
                </a:r>
              </a:p>
              <a:p>
                <a:endParaRPr lang="en-US" sz="2000" b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endParaRPr lang="en-US" sz="2000" b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r>
                  <a:rPr lang="en-US" sz="2000" b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The first type is directly used in the total energy calculation, while the second type is used when taking derivatives</a:t>
                </a:r>
              </a:p>
              <a:p>
                <a:r>
                  <a:rPr lang="en-US" sz="2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Note that the well-behaved domain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is [-1,1]. This means that the distance between two particles cannot be directly passed to this function; it must first be mapped to this range.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6BC359-ADC5-9AD1-80C8-348FB55EEE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57987" y="2431765"/>
                <a:ext cx="8276026" cy="3320031"/>
              </a:xfrm>
              <a:blipFill>
                <a:blip r:embed="rId2"/>
                <a:stretch>
                  <a:fillRect l="-515" r="-10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70A14F6-DF58-1B60-4F98-1ABFF72644F8}"/>
              </a:ext>
            </a:extLst>
          </p:cNvPr>
          <p:cNvGrpSpPr/>
          <p:nvPr/>
        </p:nvGrpSpPr>
        <p:grpSpPr>
          <a:xfrm>
            <a:off x="2254227" y="3021229"/>
            <a:ext cx="7309021" cy="1250322"/>
            <a:chOff x="2069558" y="2843878"/>
            <a:chExt cx="8647589" cy="1495634"/>
          </a:xfrm>
        </p:grpSpPr>
        <p:pic>
          <p:nvPicPr>
            <p:cNvPr id="5" name="Picture 4" descr="The image depicts a mathematical expression illustrating a recursive relationship, where To(x) equals 1, T1(x) equals x, and Tn+1(x) is defined as 2.xTn(x) - Tn-1(x).&#10;&#10;AI-generated content may be incorrect.">
              <a:extLst>
                <a:ext uri="{FF2B5EF4-FFF2-40B4-BE49-F238E27FC236}">
                  <a16:creationId xmlns:a16="http://schemas.microsoft.com/office/drawing/2014/main" id="{0C333C1B-2822-3DE3-471C-660EE29720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69558" y="2977885"/>
              <a:ext cx="3963380" cy="1246128"/>
            </a:xfrm>
            <a:prstGeom prst="rect">
              <a:avLst/>
            </a:prstGeom>
          </p:spPr>
        </p:pic>
        <p:pic>
          <p:nvPicPr>
            <p:cNvPr id="7" name="Picture 6" descr="The image displays a sequence of mathematical equations representing a recursive formula, where Uo(x) is set to 1, U1(x) is defined as 2x, and Un+1(x) is a recursive relationship involving the previous two terms.&#10;&#10;AI-generated content may be incorrect.">
              <a:extLst>
                <a:ext uri="{FF2B5EF4-FFF2-40B4-BE49-F238E27FC236}">
                  <a16:creationId xmlns:a16="http://schemas.microsoft.com/office/drawing/2014/main" id="{5C6C1BFA-2E8E-20C6-DEC9-19D8E889E14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44509" y="2843878"/>
              <a:ext cx="4572638" cy="14956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23647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10E869-25EF-82E9-63CF-A7A45B411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4784796" cy="1330840"/>
          </a:xfrm>
        </p:spPr>
        <p:txBody>
          <a:bodyPr>
            <a:normAutofit/>
          </a:bodyPr>
          <a:lstStyle/>
          <a:p>
            <a:r>
              <a:rPr lang="en-US" i="1" dirty="0"/>
              <a:t>r</a:t>
            </a:r>
            <a:r>
              <a:rPr lang="en-US" dirty="0"/>
              <a:t> to </a:t>
            </a:r>
            <a:r>
              <a:rPr lang="en-US" i="1" dirty="0"/>
              <a:t>s</a:t>
            </a:r>
            <a:r>
              <a:rPr lang="en-US" dirty="0"/>
              <a:t> Transformation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301D1A-546A-4DCE-BBFD-00AABC2EDD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37034" y="2194102"/>
                <a:ext cx="4438036" cy="390858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Transforming </a:t>
                </a:r>
                <a:r>
                  <a:rPr lang="en-US" sz="2000" i="1" dirty="0"/>
                  <a:t>r</a:t>
                </a:r>
                <a:r>
                  <a:rPr lang="en-US" sz="2000" dirty="0"/>
                  <a:t> to </a:t>
                </a:r>
                <a:r>
                  <a:rPr lang="en-US" sz="2000" i="1" dirty="0"/>
                  <a:t>s </a:t>
                </a:r>
                <a:r>
                  <a:rPr lang="en-US" sz="2000" dirty="0"/>
                  <a:t>is dependent on the distance cutoffs,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𝑐𝑢𝑡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𝑐𝑢𝑡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en-US" sz="2000" dirty="0"/>
                  <a:t>. First an intermediate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2000" b="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000" b="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000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2000" b="0" i="1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000" b="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sz="2000" dirty="0"/>
                  <a:t> is calculated, and from this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2000" dirty="0"/>
                  <a:t> can be determined. This value is stretches the range of lower-valued interatomic distanced, since the potential energy will be more featured over lower distances. </a:t>
                </a:r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301D1A-546A-4DCE-BBFD-00AABC2EDD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37034" y="2194102"/>
                <a:ext cx="4438036" cy="3908585"/>
              </a:xfrm>
              <a:blipFill>
                <a:blip r:embed="rId2"/>
                <a:stretch>
                  <a:fillRect l="-1511" t="-1716" r="-20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The text appears to be a series of mathematical expressions and variables, possibly related to differential equations or a system of equations, but without an actual image, it's impossible to describe any visual content.&#10;&#10;AI-generated content may be incorrect.">
            <a:extLst>
              <a:ext uri="{FF2B5EF4-FFF2-40B4-BE49-F238E27FC236}">
                <a16:creationId xmlns:a16="http://schemas.microsoft.com/office/drawing/2014/main" id="{21E9D458-75CF-6773-B248-0FCB1F60EE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0610" y="2042501"/>
            <a:ext cx="4737650" cy="279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767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710600-CC0D-0845-57EA-E67F64138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3" y="482328"/>
            <a:ext cx="9392421" cy="846900"/>
          </a:xfrm>
        </p:spPr>
        <p:txBody>
          <a:bodyPr>
            <a:normAutofit/>
          </a:bodyPr>
          <a:lstStyle/>
          <a:p>
            <a:r>
              <a:rPr lang="en-US" dirty="0"/>
              <a:t>Higher Body Interaction Potentials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40F7E-565E-4EFC-104B-380012B4A3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3" y="2198362"/>
            <a:ext cx="8383847" cy="3917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A 3-body potential is given as follows, with higher bodied systems following the same pattern of multiplication across all pairs per each cluster. For example, a 4-body interaction would have 6 terms multiplied: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There is no penalty function required here since the 2-body penalty function already ensures that no 2 bodies are too close to each other, so there can be no clusters of any number that are too close to each other. 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5" name="Picture 4" descr="The text appears to be a mathematical or technical document with symbols and equations, possibly related to statistics or physics.&#10;&#10;AI-generated content may be incorrect.">
            <a:extLst>
              <a:ext uri="{FF2B5EF4-FFF2-40B4-BE49-F238E27FC236}">
                <a16:creationId xmlns:a16="http://schemas.microsoft.com/office/drawing/2014/main" id="{32E6867B-0F2A-E627-BB1F-94C73964D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638" y="3429000"/>
            <a:ext cx="10916724" cy="1064380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396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61293230-B0F6-45B1-96D1-13D18E2429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627FF48C-AF46-4D52-998F-ED0BDDEEF2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239000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A5D2EF-B2DB-F1F5-96FE-B7F43596E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9"/>
            <a:ext cx="5338194" cy="1322888"/>
          </a:xfrm>
        </p:spPr>
        <p:txBody>
          <a:bodyPr>
            <a:normAutofit/>
          </a:bodyPr>
          <a:lstStyle/>
          <a:p>
            <a:r>
              <a:rPr lang="en-US"/>
              <a:t>Smoothing functions</a:t>
            </a:r>
            <a:endParaRPr lang="en-US" dirty="0"/>
          </a:p>
        </p:txBody>
      </p:sp>
      <p:sp>
        <p:nvSpPr>
          <p:cNvPr id="52" name="Content Placeholder 2">
            <a:extLst>
              <a:ext uri="{FF2B5EF4-FFF2-40B4-BE49-F238E27FC236}">
                <a16:creationId xmlns:a16="http://schemas.microsoft.com/office/drawing/2014/main" id="{F88727EE-335B-CA18-0ACE-347CA2D2F3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234" y="2194101"/>
            <a:ext cx="6078342" cy="3983415"/>
          </a:xfrm>
        </p:spPr>
        <p:txBody>
          <a:bodyPr>
            <a:normAutofit/>
          </a:bodyPr>
          <a:lstStyle/>
          <a:p>
            <a:r>
              <a:rPr lang="en-US" sz="2000" dirty="0"/>
              <a:t>Smoothing functions are functions that can be multiplied into another function to taper the output to a constant value, usually zero. They can be used to make a problem unbounded, which is computationally simpler. This allows you to </a:t>
            </a:r>
            <a:r>
              <a:rPr lang="en-US" sz="2000" dirty="0" err="1"/>
              <a:t>to</a:t>
            </a:r>
            <a:r>
              <a:rPr lang="en-US" sz="2000" dirty="0"/>
              <a:t> easily ignore “out of range” properties that are negligible</a:t>
            </a:r>
          </a:p>
          <a:p>
            <a:r>
              <a:rPr lang="en-US" sz="2000" dirty="0"/>
              <a:t>A common requirement for an ideal smoothing function is that it is continuously differential along the cutoff point, sometimes several times.</a:t>
            </a:r>
          </a:p>
          <a:p>
            <a:r>
              <a:rPr lang="en-US" sz="2000" dirty="0"/>
              <a:t>The original 2017 smoothing function was cubic, while the 2024 smoothing function is </a:t>
            </a:r>
            <a:r>
              <a:rPr lang="en-US" sz="2000" dirty="0" err="1"/>
              <a:t>tersoff</a:t>
            </a:r>
            <a:r>
              <a:rPr lang="en-US" sz="2000" dirty="0"/>
              <a:t> </a:t>
            </a:r>
          </a:p>
          <a:p>
            <a:endParaRPr lang="en-US" sz="2000" dirty="0"/>
          </a:p>
        </p:txBody>
      </p:sp>
      <p:pic>
        <p:nvPicPr>
          <p:cNvPr id="5" name="Picture 4" descr="The image depicts an equation or formula with mathematical symbols and variables, suggesting a relationship or operation involving the variables 'feiej', 'rij', 'Tij', and 'Tcut,out'.&#10;&#10;AI-generated content may be incorrect.">
            <a:extLst>
              <a:ext uri="{FF2B5EF4-FFF2-40B4-BE49-F238E27FC236}">
                <a16:creationId xmlns:a16="http://schemas.microsoft.com/office/drawing/2014/main" id="{5D1560A1-1DB7-A6C4-EE97-FAF85D99E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039" y="1865425"/>
            <a:ext cx="4420727" cy="1347657"/>
          </a:xfrm>
          <a:prstGeom prst="rect">
            <a:avLst/>
          </a:prstGeom>
        </p:spPr>
      </p:pic>
      <p:pic>
        <p:nvPicPr>
          <p:cNvPr id="8" name="Picture 7" descr="The text appears to be a snippet of mathematical notation or code, likely related to a control system or signal processing equation, with conditions and expressions involving variables like 'rij', 'Tcut', 'Tcut,out', and 'dt'.&#10;&#10;AI-generated content may be incorrect.">
            <a:extLst>
              <a:ext uri="{FF2B5EF4-FFF2-40B4-BE49-F238E27FC236}">
                <a16:creationId xmlns:a16="http://schemas.microsoft.com/office/drawing/2014/main" id="{527C63E7-AD8F-A9D7-2F41-596E60C8A4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8810" y="4461744"/>
            <a:ext cx="5224587" cy="1253901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4578AF3-0C50-0566-F5BE-8D245BA68114}"/>
              </a:ext>
            </a:extLst>
          </p:cNvPr>
          <p:cNvSpPr txBox="1">
            <a:spLocks/>
          </p:cNvSpPr>
          <p:nvPr/>
        </p:nvSpPr>
        <p:spPr>
          <a:xfrm>
            <a:off x="838200" y="4057737"/>
            <a:ext cx="10515600" cy="5155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615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9C3C864-C625-4883-B868-9A4C470F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291" y="3296652"/>
            <a:ext cx="12202113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AC0E11-DF08-BB1C-14A7-27FDDC906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5833"/>
            <a:ext cx="4215063" cy="2398713"/>
          </a:xfrm>
        </p:spPr>
        <p:txBody>
          <a:bodyPr>
            <a:normAutofit/>
          </a:bodyPr>
          <a:lstStyle/>
          <a:p>
            <a:r>
              <a:rPr lang="en-US" dirty="0"/>
              <a:t>Penalty Function	</a:t>
            </a:r>
          </a:p>
        </p:txBody>
      </p:sp>
      <p:pic>
        <p:nvPicPr>
          <p:cNvPr id="5" name="Picture 4" descr="The text appears to be a series of mathematical or symbolic expressions, possibly representing an equation or set of conditions. It includes variables like 'eiej', 'reiej', 'Jeiej', and 'if rij &lt; fc,in', followed by a series of mathematical operations such as addition, subtraction, and a conditional statement. However, without a visual image or more context, it's not possible to describe the content or purpose of the image.&#10;&#10;AI-generated content may be incorrect.">
            <a:extLst>
              <a:ext uri="{FF2B5EF4-FFF2-40B4-BE49-F238E27FC236}">
                <a16:creationId xmlns:a16="http://schemas.microsoft.com/office/drawing/2014/main" id="{CE4282B9-597D-C691-9F47-668551E72A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955" y="1035105"/>
            <a:ext cx="9875259" cy="150597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45F935-4F6D-6011-2634-F3A953D3CE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30779" y="3884452"/>
                <a:ext cx="5723021" cy="2398713"/>
              </a:xfrm>
            </p:spPr>
            <p:txBody>
              <a:bodyPr anchor="ctr">
                <a:normAutofit/>
              </a:bodyPr>
              <a:lstStyle/>
              <a:p>
                <a:r>
                  <a:rPr lang="en-US" sz="2000" dirty="0"/>
                  <a:t>The penalty function ensures that no two bodies get too close to each other.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2000" dirty="0"/>
                  <a:t> is the strength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2000" dirty="0"/>
                  <a:t> is a parameter that dictate where the penalty function is activated</a:t>
                </a: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45F935-4F6D-6011-2634-F3A953D3CE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30779" y="3884452"/>
                <a:ext cx="5723021" cy="2398713"/>
              </a:xfrm>
              <a:blipFill>
                <a:blip r:embed="rId3"/>
                <a:stretch>
                  <a:fillRect l="-958" r="-5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8512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1293230-B0F6-45B1-96D1-13D18E2429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F1E8018D-D29A-4B9D-BF9C-9F4D7BA12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291" y="3296652"/>
            <a:ext cx="12202113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9768F5-42FF-0D07-C272-09E128D35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84448"/>
            <a:ext cx="4215063" cy="2398713"/>
          </a:xfrm>
        </p:spPr>
        <p:txBody>
          <a:bodyPr>
            <a:normAutofit/>
          </a:bodyPr>
          <a:lstStyle/>
          <a:p>
            <a:r>
              <a:rPr lang="en-US" dirty="0"/>
              <a:t>Derivatives of the Chebyshev polynomials</a:t>
            </a:r>
          </a:p>
        </p:txBody>
      </p:sp>
      <p:pic>
        <p:nvPicPr>
          <p:cNvPr id="5" name="Picture 4" descr="The provided text appears to be mathematical expressions and symbols, likely related to a sequence or series involving differentiation and summation. Without a visual image, it's difficult to describe it, but it seems to involve a pattern of terms involving differentiation (dTn, d2Tn), a summation (nTn), and some subtraction (Un). If this is part of a mathematical problem or equation, it might be describing a recursive formula or a sequence.&#10;&#10;AI-generated content may be incorrect.">
            <a:extLst>
              <a:ext uri="{FF2B5EF4-FFF2-40B4-BE49-F238E27FC236}">
                <a16:creationId xmlns:a16="http://schemas.microsoft.com/office/drawing/2014/main" id="{1AB41726-63DC-DFF9-2F40-C39063999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29" y="978757"/>
            <a:ext cx="5867549" cy="1598906"/>
          </a:xfrm>
          <a:prstGeom prst="rect">
            <a:avLst/>
          </a:prstGeom>
        </p:spPr>
      </p:pic>
      <p:pic>
        <p:nvPicPr>
          <p:cNvPr id="7" name="Picture 6" descr="The text describes a mathematical expression involving partial derivatives and an equation with terms involving variables and indices.&#10;&#10;AI-generated content may be incorrect.">
            <a:extLst>
              <a:ext uri="{FF2B5EF4-FFF2-40B4-BE49-F238E27FC236}">
                <a16:creationId xmlns:a16="http://schemas.microsoft.com/office/drawing/2014/main" id="{AAA5B0D4-AEC9-2B2E-383A-B1D7968D1E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979" y="1358612"/>
            <a:ext cx="5501292" cy="77017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EE507C-A753-3B74-0EC5-C19291A794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39706" y="3884449"/>
                <a:ext cx="5714093" cy="2398713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/>
                  <a:t>Derivatives of the first form of Chebyshev polynomials are needed because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∇U</m:t>
                    </m:r>
                  </m:oMath>
                </a14:m>
                <a:r>
                  <a:rPr lang="en-US" sz="2000" dirty="0"/>
                  <a:t>. They can be calculated using the left formulas.</a:t>
                </a:r>
              </a:p>
              <a:p>
                <a:r>
                  <a:rPr lang="en-US" sz="2000" dirty="0"/>
                  <a:t>Using </a:t>
                </a:r>
                <a:r>
                  <a:rPr lang="en-US" sz="2000" dirty="0" err="1"/>
                  <a:t>L’Hopital’s</a:t>
                </a:r>
                <a:r>
                  <a:rPr lang="en-US" sz="2000" dirty="0"/>
                  <a:t> allows you to evaluate the second derivative at its poles, shown on the right </a:t>
                </a:r>
              </a:p>
              <a:p>
                <a:endParaRPr lang="en-US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EE507C-A753-3B74-0EC5-C19291A794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39706" y="3884449"/>
                <a:ext cx="5714093" cy="2398713"/>
              </a:xfrm>
              <a:blipFill>
                <a:blip r:embed="rId4"/>
                <a:stretch>
                  <a:fillRect l="-961" t="-2284" r="-20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9846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7BEC9-2CDE-F55E-AF13-83721F694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Alternative to the 2</a:t>
            </a:r>
            <a:r>
              <a:rPr lang="en-US" baseline="30000"/>
              <a:t>nd</a:t>
            </a:r>
            <a:r>
              <a:rPr lang="en-US"/>
              <a:t> Chebyshev Polynomials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8F761-2686-6C59-0C5E-F1CD4F63C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73614" cy="4351338"/>
          </a:xfrm>
        </p:spPr>
        <p:txBody>
          <a:bodyPr/>
          <a:lstStyle/>
          <a:p>
            <a:r>
              <a:rPr lang="en-US"/>
              <a:t>If it is undesirable to calculate the second form of Chebyshev polynomials, then the following substitutions can be used to get derivative expressions only in terms of T</a:t>
            </a:r>
          </a:p>
          <a:p>
            <a:endParaRPr lang="en-US"/>
          </a:p>
          <a:p>
            <a:endParaRPr lang="en-US" dirty="0"/>
          </a:p>
        </p:txBody>
      </p:sp>
      <p:pic>
        <p:nvPicPr>
          <p:cNvPr id="5" name="Picture 4" descr="The image depicts a sequence of mathematical expressions, illustrating a recursive relationship involving functions Un(x), Tn(x), and Tn+1(x), with the term 'x^2 - 1' repeated in each equation.&#10;&#10;AI-generated content may be incorrect.">
            <a:extLst>
              <a:ext uri="{FF2B5EF4-FFF2-40B4-BE49-F238E27FC236}">
                <a16:creationId xmlns:a16="http://schemas.microsoft.com/office/drawing/2014/main" id="{32094420-4F35-A6D9-F9FB-E3228E2988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3268" y="1907628"/>
            <a:ext cx="3561183" cy="1395428"/>
          </a:xfrm>
          <a:prstGeom prst="rect">
            <a:avLst/>
          </a:prstGeom>
        </p:spPr>
      </p:pic>
      <p:pic>
        <p:nvPicPr>
          <p:cNvPr id="7" name="Picture 6" descr="The text appears to be a mathematical expression involving derivatives and a recursive relationship, possibly from a differential equation or a sequence.&#10;&#10;AI-generated content may be incorrect.">
            <a:extLst>
              <a:ext uri="{FF2B5EF4-FFF2-40B4-BE49-F238E27FC236}">
                <a16:creationId xmlns:a16="http://schemas.microsoft.com/office/drawing/2014/main" id="{729FC9D6-B15F-4212-EE5D-C99586FCBE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4450"/>
            <a:ext cx="12192000" cy="2364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228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</TotalTime>
  <Words>613</Words>
  <Application>Microsoft Office PowerPoint</Application>
  <PresentationFormat>Widescreen</PresentationFormat>
  <Paragraphs>40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Cambria Math</vt:lpstr>
      <vt:lpstr>Times New Roman</vt:lpstr>
      <vt:lpstr>Office Theme</vt:lpstr>
      <vt:lpstr>ChIMES ML-IAP</vt:lpstr>
      <vt:lpstr>Cluster Expansion</vt:lpstr>
      <vt:lpstr>2-Body Interaction Potentials</vt:lpstr>
      <vt:lpstr>Chebyshev polynomials</vt:lpstr>
      <vt:lpstr>r to s Transformation</vt:lpstr>
      <vt:lpstr>Higher Body Interaction Potentials</vt:lpstr>
      <vt:lpstr>Smoothing functions</vt:lpstr>
      <vt:lpstr>Penalty Function </vt:lpstr>
      <vt:lpstr>Derivatives of the Chebyshev polynomials</vt:lpstr>
      <vt:lpstr>Alternative to the 2nd Chebyshev Polynomials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Philip Alcorn</dc:creator>
  <cp:lastModifiedBy>Philip Alcorn</cp:lastModifiedBy>
  <cp:revision>4</cp:revision>
  <dcterms:created xsi:type="dcterms:W3CDTF">2026-05-20T16:50:20Z</dcterms:created>
  <dcterms:modified xsi:type="dcterms:W3CDTF">2026-05-21T20:10:28Z</dcterms:modified>
</cp:coreProperties>
</file>